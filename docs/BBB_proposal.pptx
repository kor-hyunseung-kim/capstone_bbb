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 i="0">
                <a:solidFill>
                  <a:srgbClr val="00C8FF"/>
                </a:solidFill>
              </a:rPr>
              <a:t>BBB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7A9ABF"/>
                </a:solidFill>
              </a:rPr>
              <a:t>Bio Body 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ABF"/>
                </a:solidFill>
              </a:rPr>
              <a:t>EMG + IMU 센서로 작업자의 근피로를 모니터링하고,
오염 환경에서도 블루투스 핸즈프리 제어를 실현하는 스마트 웨어러블 아대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617720"/>
            <a:ext cx="1554480" cy="347472"/>
          </a:xfrm>
          <a:prstGeom prst="rect">
            <a:avLst/>
          </a:prstGeom>
          <a:solidFill>
            <a:srgbClr val="122040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617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ESP32-S3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4617720"/>
            <a:ext cx="1554480" cy="347472"/>
          </a:xfrm>
          <a:prstGeom prst="rect">
            <a:avLst/>
          </a:prstGeom>
          <a:solidFill>
            <a:srgbClr val="122040"/>
          </a:solidFill>
          <a:ln w="1524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4617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9D"/>
                </a:solidFill>
              </a:rPr>
              <a:t>MicroPython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4617720"/>
            <a:ext cx="1554480" cy="347472"/>
          </a:xfrm>
          <a:prstGeom prst="rect">
            <a:avLst/>
          </a:prstGeom>
          <a:solidFill>
            <a:srgbClr val="122040"/>
          </a:solidFill>
          <a:ln w="1524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617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61FF"/>
                </a:solidFill>
              </a:rPr>
              <a:t>BLE HID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4617720"/>
            <a:ext cx="1554480" cy="347472"/>
          </a:xfrm>
          <a:prstGeom prst="rect">
            <a:avLst/>
          </a:prstGeom>
          <a:solidFill>
            <a:srgbClr val="122040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61772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6D"/>
                </a:solidFill>
              </a:rPr>
              <a:t>EMG · IMU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A9ABF"/>
                </a:solidFill>
              </a:rPr>
              <a:t>"Protecting the Body, Bridging the Device."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9ABF"/>
                </a:solidFill>
              </a:rPr>
              <a:t>Capstone Design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354328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E"/>
                </a:solidFill>
              </a:rPr>
              <a:t>왜 BBB가 필요한가?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FF9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기존 안전 솔루션이 해결하지 못한 3가지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3749039" cy="438912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⚠️  근피로 데이터 부재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기존 안전 장구는 외부 충격 보호에만 집중.
근피로 누적 → 물건 낙하·중대 사고 위험.
이를 실시간으로 감지·경보하는 웨어러블 장치가 없음.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3749039" cy="438912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🧤  현장 오염 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기름·화학약품이 묻은 손으로 노트북·태블릿 조작
→ 정밀 기기 오염·고장.
비접촉 입력 수단이 절실.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965960"/>
            <a:ext cx="3749039" cy="438912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🤚  비접촉식 입력장치 부재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606040"/>
            <a:ext cx="3383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신체 동작만으로 기기를 직접 만지지 않고 제어할 수 있는
산업 현장용 비접촉식 입력장치가 없음.
손을 쓰지 못하는 상황에서도 즉시 조작 가능해야 함.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2708656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E"/>
                </a:solidFill>
              </a:rPr>
              <a:t>프로젝트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FF9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5486400" cy="4846320"/>
          </a:xfrm>
          <a:prstGeom prst="rect">
            <a:avLst/>
          </a:prstGeom>
          <a:solidFill>
            <a:srgbClr val="0D1B2E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4D6D"/>
                </a:solidFill>
              </a:rPr>
              <a:t>🛡️  Safety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F0FE"/>
                </a:solidFill>
              </a:rPr>
              <a:t>근피로 모니터링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→  EMG Median Frequency 실시간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101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→  피로 임계치 80% / 95% 이중 경보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→  진동 + LED 촉각·시각 피드백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4398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→  근골격계 질환 사전 예방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554480"/>
            <a:ext cx="5486400" cy="4846320"/>
          </a:xfrm>
          <a:prstGeom prst="rect">
            <a:avLst/>
          </a:prstGeom>
          <a:solidFill>
            <a:srgbClr val="0D1B2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37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🎮  Control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F0FE"/>
                </a:solidFill>
              </a:rPr>
              <a:t>핸즈프리 BLE 마우스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→  IMU 팔 기울기 → 커서 이동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3101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→  EMG Spike (주먹 쥐기) → 클릭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77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→  BLE HID — 드라이버 없이 즉시 연결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44398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F"/>
                </a:solidFill>
              </a:rPr>
              <a:t>→  Windows · Android · iOS 호환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4062984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Hardware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E"/>
                </a:solidFill>
              </a:rPr>
              <a:t>하드웨어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FF9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9D"/>
                </a:solidFill>
              </a:rPr>
              <a:t>설계 원칙: 경량화 · 소형화 최우선  —  불필요한 부품 제거, 전류 예산 내 설계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65960"/>
            <a:ext cx="278892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E"/>
                </a:solidFill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939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MCU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9D"/>
                </a:solidFill>
              </a:rPr>
              <a:t>XIAO ESP32-S3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</a:rPr>
              <a:t>BLE HID · WiFi · USB-C 충전 내장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965960"/>
            <a:ext cx="278892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E"/>
                </a:solidFill>
              </a:rPr>
              <a:t>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0939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EMG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532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9D"/>
                </a:solidFill>
              </a:rPr>
              <a:t>MyoWare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8803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</a:rPr>
              <a:t>근육 수축 강도 · 피로도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1965960"/>
            <a:ext cx="278892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E"/>
                </a:solidFill>
              </a:rP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0939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IMU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532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9D"/>
                </a:solidFill>
              </a:rPr>
              <a:t>MPU6050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8803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</a:rPr>
              <a:t>팔 기울기 X/Y · 6축 관성 감지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5984" y="1965960"/>
            <a:ext cx="278892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4" y="2075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E"/>
                </a:solidFill>
              </a:rPr>
              <a:t>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0344" y="20939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Battery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25328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9D"/>
                </a:solidFill>
              </a:rPr>
              <a:t>Li-Po 3.7V 300mAh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8803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</a:rPr>
              <a:t>초슬림 · 2시간+ 연속 동작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23360"/>
            <a:ext cx="278892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E"/>
                </a:solidFill>
              </a:rPr>
              <a:t>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513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Vibration  [Option]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902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9D"/>
                </a:solidFill>
              </a:rPr>
              <a:t>Coin Motor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37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</a:rPr>
              <a:t>근위험 도달 시 촉각 경보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4023360"/>
            <a:ext cx="278892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5848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E"/>
                </a:solidFill>
              </a:rPr>
              <a:t>🖥️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3048" y="41513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Display  [Option]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45902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9D"/>
                </a:solidFill>
              </a:rPr>
              <a:t>OLED 0.96"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5848" y="4937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</a:rPr>
              <a:t>모드 · 배터리 시각화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17336" y="4023360"/>
            <a:ext cx="278892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4496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E"/>
                </a:solidFill>
              </a:rPr>
              <a:t>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11696" y="41513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Electrode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4496" y="45902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9D"/>
                </a:solidFill>
              </a:rPr>
              <a:t>Disposable Patch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4937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</a:rPr>
              <a:t>피부 접촉용 교체형 전극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15984" y="4023360"/>
            <a:ext cx="2788920" cy="1920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53144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E"/>
                </a:solidFill>
              </a:rPr>
              <a:t>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10344" y="41513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Housing  [Option]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53144" y="45902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9D"/>
                </a:solidFill>
              </a:rPr>
              <a:t>3D Print FDM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4937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F"/>
                </a:solidFill>
              </a:rPr>
              <a:t>PLA/PETG · 초소형 경량 설계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803136"/>
            <a:ext cx="5417312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E"/>
                </a:solidFill>
              </a:rPr>
              <a:t>아대 동작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FF9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Safety Mode  —  근피로 모니터링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</a:rPr>
              <a:t>EMG 샘플링
1kHz ADC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148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9AB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96596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9659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F0FE"/>
                </a:solidFill>
              </a:rPr>
              <a:t>Band-pass
20~500Hz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9AB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96596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9659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F0FE"/>
                </a:solidFill>
              </a:rPr>
              <a:t>FFT 분석
Median Freq.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148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9AB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96596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9659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80% 경고
진동 1회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148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9AB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96596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19659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D6D"/>
                </a:solidFill>
              </a:rPr>
              <a:t>95% 긴급
강진동+LED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17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Control Mode  —  BLE HID 마우스 파이프라인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42900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29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</a:rPr>
              <a:t>IMU 읽기
100Hz I2C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611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9AB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42900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429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F0FE"/>
                </a:solidFill>
              </a:rPr>
              <a:t>Comp. Filter
pitch / roll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611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9ABF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342900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429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9D"/>
                </a:solidFill>
              </a:rPr>
              <a:t>커서 이동
BLE HID ΔX/Y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611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9AB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342900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3429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F0FE"/>
                </a:solidFill>
              </a:rPr>
              <a:t>EMG Spike
주먹 쥐기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6118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A9AB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20" y="3429000"/>
            <a:ext cx="1920240" cy="777240"/>
          </a:xfrm>
          <a:prstGeom prst="rect">
            <a:avLst/>
          </a:prstGeom>
          <a:solidFill>
            <a:srgbClr val="0D1B2E"/>
          </a:solidFill>
          <a:ln w="1524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3429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9D"/>
                </a:solidFill>
              </a:rPr>
              <a:t>BLE 클릭
HID Button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4663440"/>
            <a:ext cx="3931920" cy="365760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0" y="4663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FF9D"/>
                </a:solidFill>
              </a:rPr>
              <a:t>전체 파이프라인 레이턴시 목표: &lt; 50ms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803136"/>
            <a:ext cx="6771640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Demo Scenario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E"/>
                </a:solidFill>
              </a:rPr>
              <a:t>Safety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FF4D6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근골격계 질환 예방  |  물류 운반 작업자 시나리오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411480" cy="4114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011680"/>
            <a:ext cx="10515600" cy="91440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103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착용 &amp;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50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아대 착용 후 전원 ON → BLE로 모니터링 앱에 자동 연결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411480" cy="4114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063240"/>
            <a:ext cx="10515600" cy="91440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피로도 누적 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02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반복 작업 → EMG Median Frequency가 점진적으로 저주파 방향 이동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411480" cy="4114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114800"/>
            <a:ext cx="10515600" cy="91440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1단계 경보 — 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537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진동 1회 + LED 노란색 점등 → "휴식 권장" 신호 발생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12080"/>
            <a:ext cx="411480" cy="41148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5166360"/>
            <a:ext cx="10515600" cy="91440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257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6052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작업자가 알람으로 휴식 타이밍 인지 → 누적 과부하 차단 → 근골격계 질환 예방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8125968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Demo Scenario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E"/>
                </a:solidFill>
              </a:rPr>
              <a:t>Control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오염 환경 핸즈프리 제어  |  유해물질 접촉 정비사 시나리오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411480" cy="4114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A14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2011680"/>
            <a:ext cx="10515600" cy="91440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103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상황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50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장갑에 오일이 묻은 정비사 → 매뉴얼 확인을 위해 노트북 앞에 서 있음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411480" cy="4114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089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A14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063240"/>
            <a:ext cx="10515600" cy="91440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커서 이동 (IMU)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02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팔을 상·하·좌·우로 기울이면 pitch/roll이 BLE HID ΔX/Y로 변환 → 커서 이동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0520"/>
            <a:ext cx="411480" cy="4114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A14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114800"/>
            <a:ext cx="10515600" cy="91440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클릭 (EMG Spike)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537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주먹을 순간적으로 꽉 쥐면 EMG 스파이크 감지 → 왼쪽 클릭 → 도면 열기·확대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12080"/>
            <a:ext cx="411480" cy="4114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A14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5166360"/>
            <a:ext cx="10515600" cy="91440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5257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F0FE"/>
                </a:solidFill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6052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F"/>
                </a:solidFill>
              </a:rPr>
              <a:t>기기를 한 번도 건드리지 않고 정보 확인 완료 → 오염 전파 Zero, 장비 고장 방지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803136"/>
            <a:ext cx="9480296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Development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E"/>
                </a:solidFill>
              </a:rPr>
              <a:t>12주 개발 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FF9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005840" cy="384048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FF"/>
                </a:solidFill>
              </a:rPr>
              <a:t>W1–W2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764792"/>
            <a:ext cx="274320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1600200"/>
            <a:ext cx="9875520" cy="822960"/>
          </a:xfrm>
          <a:prstGeom prst="rect">
            <a:avLst/>
          </a:prstGeom>
          <a:solidFill>
            <a:srgbClr val="0D1B2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65506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환경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002536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부품 수급 · ESP32-S3 BLE 기본 통신 환경 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87752"/>
            <a:ext cx="1005840" cy="384048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8775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61FF"/>
                </a:solidFill>
              </a:rPr>
              <a:t>W3–W5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08760" y="2752344"/>
            <a:ext cx="274320" cy="54864"/>
          </a:xfrm>
          <a:prstGeom prst="rect">
            <a:avLst/>
          </a:prstGeom>
          <a:solidFill>
            <a:srgbClr val="7B61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3080" y="2587752"/>
            <a:ext cx="9875520" cy="822960"/>
          </a:xfrm>
          <a:prstGeom prst="rect">
            <a:avLst/>
          </a:prstGeom>
          <a:solidFill>
            <a:srgbClr val="0D1B2E"/>
          </a:solidFill>
          <a:ln w="1524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26426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신호처리 알고리즘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990088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EMG Band-pass 필터 · FFT Median Frequency · IMU Comp.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575304"/>
            <a:ext cx="1005840" cy="384048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7530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FF9D"/>
                </a:solidFill>
              </a:rPr>
              <a:t>W6–W8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3739896"/>
            <a:ext cx="274320" cy="54864"/>
          </a:xfrm>
          <a:prstGeom prst="rect">
            <a:avLst/>
          </a:prstGeom>
          <a:solidFill>
            <a:srgbClr val="00FF9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83080" y="3575304"/>
            <a:ext cx="9875520" cy="822960"/>
          </a:xfrm>
          <a:prstGeom prst="rect">
            <a:avLst/>
          </a:prstGeom>
          <a:solidFill>
            <a:srgbClr val="0D1B2E"/>
          </a:solidFill>
          <a:ln w="15240">
            <a:solidFill>
              <a:srgbClr val="00F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3630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BLE HID + 하우징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97764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Bluetooth HID 마우스 프로토콜 최적화 · 3D 프린팅 경량 하우징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62856"/>
            <a:ext cx="1005840" cy="384048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56285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166"/>
                </a:solidFill>
              </a:rPr>
              <a:t>W9–W11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727448"/>
            <a:ext cx="274320" cy="54864"/>
          </a:xfrm>
          <a:prstGeom prst="rect">
            <a:avLst/>
          </a:prstGeom>
          <a:solidFill>
            <a:srgbClr val="FFD16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83080" y="4562856"/>
            <a:ext cx="9875520" cy="822960"/>
          </a:xfrm>
          <a:prstGeom prst="rect">
            <a:avLst/>
          </a:prstGeom>
          <a:solidFill>
            <a:srgbClr val="0D1B2E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통합 테스트 &amp;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96519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시나리오별 데이터 보정 · 사용자 피드백 반영 · QA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550408"/>
            <a:ext cx="1005840" cy="384048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55040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D6D"/>
                </a:solidFill>
              </a:rPr>
              <a:t>W12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08760" y="5715000"/>
            <a:ext cx="274320" cy="54864"/>
          </a:xfrm>
          <a:prstGeom prst="rect">
            <a:avLst/>
          </a:prstGeom>
          <a:solidFill>
            <a:srgbClr val="FF4D6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83080" y="5550408"/>
            <a:ext cx="9875520" cy="822960"/>
          </a:xfrm>
          <a:prstGeom prst="rect">
            <a:avLst/>
          </a:prstGeom>
          <a:solidFill>
            <a:srgbClr val="0D1B2E"/>
          </a:solidFill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5605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최종 발표 &amp; 시연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952744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2026년 6월 12일 — Safety &amp; Control 두 시나리오 라이브 데모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10834624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FF"/>
                </a:solidFill>
              </a:rPr>
              <a:t>Impact &amp;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8F0FE"/>
                </a:solidFill>
              </a:rPr>
              <a:t>기대 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7432"/>
          </a:xfrm>
          <a:prstGeom prst="rect">
            <a:avLst/>
          </a:prstGeom>
          <a:solidFill>
            <a:srgbClr val="00FF9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3657600" cy="178308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</a:rPr>
              <a:t>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562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산업 안전 향상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331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근피로 기반 휴식 타이밍 제공
→ 근골격계 질환 발생률 감소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691640"/>
            <a:ext cx="3657600" cy="178308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</a:rPr>
              <a:t>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8562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오염 환경 생산성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기기 비접촉 제어 → 장비 오염·고장 Zero
→ 정비·연구 현장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5" y="1691640"/>
            <a:ext cx="3657600" cy="178308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1975" y="18562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표준 BLE HID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7" y="2331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드라이버 없이 Win/Android/iOS
즉시 연결 — 범용성 확보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3657600" cy="178308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794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221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경량 웨어러블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2976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초소형 폼팩터 + Li-Po 2h+
→ 장시간 착용 현실적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1688" y="3657600"/>
            <a:ext cx="3657600" cy="1783080"/>
          </a:xfrm>
          <a:prstGeom prst="rect">
            <a:avLst/>
          </a:prstGeom>
          <a:solidFill>
            <a:srgbClr val="0D1B2E"/>
          </a:solidFill>
          <a:ln w="15240">
            <a:solidFill>
              <a:srgbClr val="122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794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</a:rPr>
              <a:t>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38221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0FE"/>
                </a:solidFill>
              </a:rPr>
              <a:t>바이오 신호처리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2976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EMG FFT + IMU 융합 알고리즘
→ 학술적 기여 및 확장 플랫폼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5" y="3657600"/>
            <a:ext cx="3657600" cy="1783080"/>
          </a:xfrm>
          <a:prstGeom prst="rect">
            <a:avLst/>
          </a:prstGeom>
          <a:solidFill>
            <a:srgbClr val="0D1B2E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7" y="3794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8F0FE"/>
                </a:solidFill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1975" y="38221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최종 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429768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F"/>
                </a:solidFill>
              </a:rPr>
              <a:t>2026.06.12 라이브 데모
Safety &amp; Control 완전 동작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A9ABF"/>
                </a:solidFill>
              </a:rPr>
              <a:t>"Protecting the Body, Bridging the Device."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2204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C8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91672" y="6537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A9ABF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